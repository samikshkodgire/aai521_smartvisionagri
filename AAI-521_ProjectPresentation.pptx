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E45433-FEE1-4A2E-8B3B-0241A90D4F88}">
  <a:tblStyle styleId="{C2E45433-FEE1-4A2E-8B3B-0241A90D4F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8be0636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b8be0636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b8be0636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b8be0636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b8be0636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b8be0636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8be0636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8be0636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8be0636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8be0636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b8be0636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b8be0636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b8be0636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b8be0636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b8be0636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b8be0636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8be0636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8be0636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8be0636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8be0636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8be0636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b8be0636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b8be0636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b8be0636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8be0636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b8be0636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emmarex/plantdisease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26725"/>
            <a:ext cx="8520600" cy="11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SMARTVISIONAGRI 🌿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51650"/>
            <a:ext cx="8520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Leaf Disease Classification Using Deep Learning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1700" y="40081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Samiksha Kodgire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AAI-521 – Computer Vision Applications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(University of San Diego)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Motivation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Plant diseases = major global cause of crop loss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diagnosis is slow, subjective, not scalable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Computer vision offers automated early detection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Build ML model to classify 15 disease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250" y="961984"/>
            <a:ext cx="3312550" cy="2444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Research Objectives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custom baseline CNN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Implement &amp; fine-tune transfer learning models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MobileNetV2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EfficientNetB0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MobileNetV3-Large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</a:t>
            </a:r>
            <a:r>
              <a:rPr lang="en"/>
              <a:t>Compare accuracy, robustness, training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Perform error analysis &amp; interpret model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Document practical issues (GPU limits, Grad-CAM failures)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PlantVillage dataset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https://www.kaggle.com/datasets/emmarex/plantdisease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Original: 20,000+ images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Working set created for feasibility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Capped at 500 images/class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Final dataset: 7,025 images, 15 classes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Unified resolution: </a:t>
            </a:r>
            <a:r>
              <a:rPr b="1" lang="en">
                <a:solidFill>
                  <a:schemeClr val="dk1"/>
                </a:solidFill>
              </a:rPr>
              <a:t>128×128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Pipeline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Resized all images once (OpenCV)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Augmentation: rotation, shift, zoom, flip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Training/validation using ImageDataGenerator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20% validation split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Maintained class balance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Trained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Baseline CNN (Custom)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MobileNetV2 — Full fine-tuning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EfficientNetB0 — Frozen base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4. MobileNetV3-Large — Frozen base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Deep Dive (CNN)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Baseline CNN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3 Conv blocks (32→64→128)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MaxPooling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Dense(128) + Dropout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~3.3M parameters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Best performer: 87.96% accuracy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Models (Performance Discussion)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MobileNetV2 — 24.14%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Expects 224×224 → failed at 128×128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Full fine-tuning destabilized weights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EfficientNetB0 — 7.12%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Highly resolution-sensitive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Incorrect preprocessing hurts performance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MobileNetV3-Large — 32.19%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Better robustness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Still constrained by low resolution</a:t>
            </a:r>
            <a:endParaRPr sz="1600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Table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21"/>
          <p:cNvGraphicFramePr/>
          <p:nvPr/>
        </p:nvGraphicFramePr>
        <p:xfrm>
          <a:off x="715125" y="16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{C2E45433-FEE1-4A2E-8B3B-0241A90D4F88}</a:tableStyleId>
              </a:tblPr>
              <a:tblGrid>
                <a:gridCol w="2446525"/>
                <a:gridCol w="2446525"/>
                <a:gridCol w="2446525"/>
              </a:tblGrid>
              <a:tr h="40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Model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Parameters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Best Val Accuracy</a:t>
                      </a:r>
                      <a:endParaRPr b="1" sz="13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Baseline CNN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3,306,575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0.8796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MobileNetV2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2,589,775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0.2414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EfficientNetB0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4,381,362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0.0712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MobileNetV3-Large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3,246,223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0.3219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Predictions Visualization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Samples of correct &amp; incorrect predictions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Confidence scores highlight: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correct-high confidence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wrong-low confidence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wrong-high confidence (danger cases!)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 rotWithShape="1">
          <a:blip r:embed="rId4">
            <a:alphaModFix/>
          </a:blip>
          <a:srcRect b="80083" l="0" r="4003" t="0"/>
          <a:stretch/>
        </p:blipFill>
        <p:spPr>
          <a:xfrm>
            <a:off x="5339400" y="138200"/>
            <a:ext cx="2153750" cy="425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Row-Normalized Confusion Matrix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20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3163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12">
                <a:solidFill>
                  <a:schemeClr val="dk1"/>
                </a:solidFill>
              </a:rPr>
              <a:t>Shows per-class recall</a:t>
            </a:r>
            <a:endParaRPr sz="251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12">
              <a:solidFill>
                <a:schemeClr val="dk1"/>
              </a:solidFill>
            </a:endParaRPr>
          </a:p>
          <a:p>
            <a:pPr indent="-31634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12">
                <a:solidFill>
                  <a:schemeClr val="dk1"/>
                </a:solidFill>
              </a:rPr>
              <a:t>Highlights ambiguous disease pairs</a:t>
            </a:r>
            <a:endParaRPr sz="251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12">
              <a:solidFill>
                <a:schemeClr val="dk1"/>
              </a:solidFill>
            </a:endParaRPr>
          </a:p>
          <a:p>
            <a:pPr indent="-31634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12">
                <a:solidFill>
                  <a:schemeClr val="dk1"/>
                </a:solidFill>
              </a:rPr>
              <a:t>Identifies classes needing more data</a:t>
            </a:r>
            <a:endParaRPr sz="251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026" y="1017725"/>
            <a:ext cx="47126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Limitations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Low-resolution constraint (128×128)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GPU quota exhaustion on Colab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Transfer-learning failures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Grad-CAM instability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Limited dataset diversity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Train at 224×224 resolution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Progressive layer unfreezing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Learning rate warmup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SHAP explainability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Deploy baseline CNN via TFLite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Collect real-world leaf images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End-to-end plant disease pipeline built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Baseline CNN unexpectedly dominated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Transfer learning constrained by resolution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Strong foundation for deployment &amp; extension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0700" y="3534400"/>
            <a:ext cx="1644325" cy="15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